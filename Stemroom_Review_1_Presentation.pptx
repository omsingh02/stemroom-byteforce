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" cy="4389120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97280"/>
            <a:ext cx="6583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5A54"/>
                </a:solidFill>
                <a:latin typeface="Arial"/>
              </a:defRPr>
            </a:pPr>
            <a:r>
              <a:t>PROBLEM STATEMENT 22</a:t>
            </a:r>
          </a:p>
          <a:p>
            <a:pPr>
              <a:defRPr sz="4600" b="1">
                <a:solidFill>
                  <a:srgbClr val="1C2220"/>
                </a:solidFill>
                <a:latin typeface="Arial"/>
              </a:defRPr>
            </a:pPr>
            <a:r>
              <a:t>Stemroom</a:t>
            </a:r>
          </a:p>
          <a:p>
            <a:pPr>
              <a:defRPr sz="2000">
                <a:solidFill>
                  <a:srgbClr val="2C6A43"/>
                </a:solidFill>
                <a:latin typeface="Verdana"/>
              </a:defRPr>
            </a:pPr>
            <a:r>
              <a:t>Online Music Collaboration Platform</a:t>
            </a:r>
          </a:p>
          <a:p>
            <a:pPr>
              <a:defRPr sz="1400">
                <a:solidFill>
                  <a:srgbClr val="4F5A54"/>
                </a:solidFill>
                <a:latin typeface="Verdana"/>
              </a:defRPr>
            </a:pPr>
            <a:r>
              <a:t>Review 1: Architecture, Core Java, JDBC &amp; UI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371600"/>
            <a:ext cx="3383280" cy="4114800"/>
          </a:xfrm>
          <a:prstGeom prst="rect">
            <a:avLst/>
          </a:prstGeom>
          <a:solidFill>
            <a:srgbClr val="F1F3EE"/>
          </a:solidFill>
          <a:ln w="12700">
            <a:solidFill>
              <a:srgbClr val="BCC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64592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D5A00"/>
                </a:solidFill>
                <a:latin typeface="Arial"/>
              </a:defRPr>
            </a:pPr>
            <a:r>
              <a:t>TEAM DETAILS</a:t>
            </a:r>
          </a:p>
          <a:p>
            <a:pPr>
              <a:defRPr sz="2400" b="1">
                <a:solidFill>
                  <a:srgbClr val="1C2220"/>
                </a:solidFill>
                <a:latin typeface="Arial"/>
              </a:defRPr>
            </a:pPr>
            <a:r>
              <a:t>ByteForce</a:t>
            </a:r>
          </a:p>
          <a:p>
            <a:br/>
            <a:pPr>
              <a:defRPr sz="1300" b="1">
                <a:solidFill>
                  <a:srgbClr val="4F5A54"/>
                </a:solidFill>
                <a:latin typeface="Arial"/>
              </a:defRPr>
            </a:pPr>
            <a:r>
              <a:t>Team Members:</a:t>
            </a:r>
          </a:p>
          <a:p>
            <a:pPr>
              <a:defRPr sz="1500">
                <a:solidFill>
                  <a:srgbClr val="1C2220"/>
                </a:solidFill>
                <a:latin typeface="Verdana"/>
              </a:defRPr>
            </a:pPr>
            <a:r>
              <a:t>• Om Singh</a:t>
            </a:r>
          </a:p>
          <a:p>
            <a:pPr>
              <a:defRPr sz="1500">
                <a:solidFill>
                  <a:srgbClr val="1C2220"/>
                </a:solidFill>
                <a:latin typeface="Verdana"/>
              </a:defRPr>
            </a:pPr>
            <a:r>
              <a:t>• Aryan Sharma</a:t>
            </a:r>
          </a:p>
          <a:p>
            <a:pPr>
              <a:defRPr sz="1500">
                <a:solidFill>
                  <a:srgbClr val="1C2220"/>
                </a:solidFill>
                <a:latin typeface="Verdana"/>
              </a:defRPr>
            </a:pPr>
            <a:r>
              <a:t>• Adi</a:t>
            </a:r>
          </a:p>
        </p:txBody>
      </p:sp>
      <p:pic>
        <p:nvPicPr>
          <p:cNvPr id="7" name="Picture 6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4297680"/>
            <a:ext cx="640080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D5A00"/>
                </a:solidFill>
                <a:latin typeface="Arial"/>
              </a:defRPr>
            </a:pPr>
            <a:r>
              <a:t>REVIEW 1 : STEMROOM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2220"/>
                </a:solidFill>
                <a:latin typeface="Arial"/>
              </a:defRPr>
            </a:pPr>
            <a:r>
              <a:t>1. Problem Understanding &amp;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BCC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728655" cy="1463040"/>
          </a:xfrm>
          <a:prstGeom prst="rect">
            <a:avLst/>
          </a:prstGeom>
          <a:solidFill>
            <a:srgbClr val="F1F3EE"/>
          </a:solidFill>
          <a:ln w="12700">
            <a:solidFill>
              <a:srgbClr val="E0A5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D5A00"/>
                </a:solidFill>
                <a:latin typeface="Arial"/>
              </a:defRPr>
            </a:pPr>
            <a:r>
              <a:t>THE CORE PROBLEM STATEMENT</a:t>
            </a:r>
          </a:p>
          <a:p>
            <a:pPr>
              <a:defRPr sz="1600" i="1">
                <a:solidFill>
                  <a:srgbClr val="1C2220"/>
                </a:solidFill>
                <a:latin typeface="Verdana"/>
              </a:defRPr>
            </a:pPr>
            <a:r>
              <a:t>"Musicians collaborating remotely lack a dedicated, structured hub for their audio stems, portfolio, and project milestones—leaving files scattered across chat apps with no clarity on versions or deadlines."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383280"/>
            <a:ext cx="5212080" cy="2926080"/>
          </a:xfrm>
          <a:prstGeom prst="rect">
            <a:avLst/>
          </a:prstGeom>
          <a:solidFill>
            <a:srgbClr val="F1F3EE"/>
          </a:solidFill>
          <a:ln w="12700">
            <a:solidFill>
              <a:srgbClr val="BCC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220"/>
                </a:solidFill>
                <a:latin typeface="Arial"/>
              </a:defRPr>
            </a:pPr>
            <a:r>
              <a:t>Target Audience &amp; User Pain Points</a:t>
            </a:r>
          </a:p>
          <a:p>
            <a:pPr>
              <a:defRPr sz="1300">
                <a:solidFill>
                  <a:srgbClr val="4F5A54"/>
                </a:solidFill>
                <a:latin typeface="Verdana"/>
              </a:defRPr>
            </a:pPr>
            <a:r>
              <a:t>• Independent musicians, songwriters, and audio producers.</a:t>
            </a:r>
          </a:p>
          <a:p>
            <a:pPr>
              <a:defRPr sz="1300">
                <a:solidFill>
                  <a:srgbClr val="4F5A54"/>
                </a:solidFill>
                <a:latin typeface="Verdana"/>
              </a:defRPr>
            </a:pPr>
            <a:r>
              <a:t>• Remote collaborators across different geographic zones.</a:t>
            </a:r>
          </a:p>
          <a:p>
            <a:pPr>
              <a:defRPr sz="1300">
                <a:solidFill>
                  <a:srgbClr val="4F5A54"/>
                </a:solidFill>
                <a:latin typeface="Verdana"/>
              </a:defRPr>
            </a:pPr>
            <a:r>
              <a:t>• Audio stems and mix takes get buried in informal messaging apps.</a:t>
            </a:r>
          </a:p>
          <a:p>
            <a:pPr>
              <a:defRPr sz="1300">
                <a:solidFill>
                  <a:srgbClr val="4F5A54"/>
                </a:solidFill>
                <a:latin typeface="Verdana"/>
              </a:defRPr>
            </a:pPr>
            <a:r>
              <a:t>• Confusion regarding master versions and pending deliverables.</a:t>
            </a:r>
          </a:p>
          <a:p>
            <a:pPr>
              <a:defRPr sz="1300">
                <a:solidFill>
                  <a:srgbClr val="4F5A54"/>
                </a:solidFill>
                <a:latin typeface="Verdana"/>
              </a:defRPr>
            </a:pPr>
            <a:r>
              <a:t>• Lack of an integrated portfolio to showcase vetted original 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383280"/>
            <a:ext cx="5212080" cy="2926080"/>
          </a:xfrm>
          <a:prstGeom prst="rect">
            <a:avLst/>
          </a:prstGeom>
          <a:solidFill>
            <a:srgbClr val="F1F3EE"/>
          </a:solidFill>
          <a:ln w="12700">
            <a:solidFill>
              <a:srgbClr val="BCC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47472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6A43"/>
                </a:solidFill>
                <a:latin typeface="Arial"/>
              </a:defRPr>
            </a:pPr>
            <a:r>
              <a:t>The Stemroom Approach</a:t>
            </a:r>
          </a:p>
          <a:p>
            <a:pPr>
              <a:defRPr sz="1300">
                <a:solidFill>
                  <a:srgbClr val="4F5A54"/>
                </a:solidFill>
                <a:latin typeface="Verdana"/>
              </a:defRPr>
            </a:pPr>
            <a:r>
              <a:t>• A focused, distraction-free web platform tailored to audio workflows.</a:t>
            </a:r>
          </a:p>
          <a:p>
            <a:pPr>
              <a:defRPr sz="1300">
                <a:solidFill>
                  <a:srgbClr val="4F5A54"/>
                </a:solidFill>
                <a:latin typeface="Verdana"/>
              </a:defRPr>
            </a:pPr>
            <a:r>
              <a:t>• Explicit project management with deadlines and collaborator rosters.</a:t>
            </a:r>
          </a:p>
          <a:p>
            <a:pPr>
              <a:defRPr sz="1300">
                <a:solidFill>
                  <a:srgbClr val="4F5A54"/>
                </a:solidFill>
                <a:latin typeface="Verdana"/>
              </a:defRPr>
            </a:pPr>
            <a:r>
              <a:t>• Quality gatekeeping: Content moderation as a core architectural step.</a:t>
            </a:r>
          </a:p>
          <a:p>
            <a:pPr>
              <a:defRPr sz="1300">
                <a:solidFill>
                  <a:srgbClr val="4F5A54"/>
                </a:solidFill>
                <a:latin typeface="Verdana"/>
              </a:defRPr>
            </a:pPr>
            <a:r>
              <a:t>• Persistent musician portfolio with strict status transparency.</a:t>
            </a:r>
          </a:p>
          <a:p>
            <a:pPr>
              <a:defRPr sz="1300">
                <a:solidFill>
                  <a:srgbClr val="4F5A54"/>
                </a:solidFill>
                <a:latin typeface="Verdana"/>
              </a:defRPr>
            </a:pPr>
            <a:r>
              <a:t>• Robust, zero-bloat stack built with native Servlets, JDBC and MySQL.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D5A00"/>
                </a:solidFill>
                <a:latin typeface="Arial"/>
              </a:defRPr>
            </a:pPr>
            <a:r>
              <a:t>REVIEW 1 : STEMROOM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2220"/>
                </a:solidFill>
                <a:latin typeface="Arial"/>
              </a:defRPr>
            </a:pPr>
            <a:r>
              <a:t>2. User Roles &amp; Core Responsibilities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BCC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4663440"/>
          </a:xfrm>
          <a:prstGeom prst="rect">
            <a:avLst/>
          </a:prstGeom>
          <a:solidFill>
            <a:srgbClr val="F1F3EE"/>
          </a:solidFill>
          <a:ln w="12700">
            <a:solidFill>
              <a:srgbClr val="2C6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C6A43"/>
                </a:solidFill>
                <a:latin typeface="Arial"/>
              </a:defRPr>
            </a:pPr>
            <a:r>
              <a:t>ROLE: MUSICIAN</a:t>
            </a:r>
          </a:p>
          <a:p>
            <a:pPr>
              <a:defRPr sz="1800" b="1">
                <a:solidFill>
                  <a:srgbClr val="1C2220"/>
                </a:solidFill>
                <a:latin typeface="Arial"/>
              </a:defRPr>
            </a:pPr>
            <a:r>
              <a:t>Creative Portfolio &amp; Collaboration</a:t>
            </a:r>
          </a:p>
          <a:p>
            <a:pPr>
              <a:defRPr sz="1300">
                <a:solidFill>
                  <a:srgbClr val="4F5A54"/>
                </a:solidFill>
                <a:latin typeface="Verdana"/>
              </a:defRPr>
            </a:pPr>
            <a:r>
              <a:t>• Project Lifecycles: Create projects with title, description, and strict target deadlines.</a:t>
            </a:r>
          </a:p>
          <a:p>
            <a:pPr>
              <a:defRPr sz="1300">
                <a:solidFill>
                  <a:srgbClr val="4F5A54"/>
                </a:solidFill>
                <a:latin typeface="Verdana"/>
              </a:defRPr>
            </a:pPr>
            <a:r>
              <a:t>• Team Collaboration: Invite fellow musicians by email; manage member permissions and status.</a:t>
            </a:r>
          </a:p>
          <a:p>
            <a:pPr>
              <a:defRPr sz="1300">
                <a:solidFill>
                  <a:srgbClr val="4F5A54"/>
                </a:solidFill>
                <a:latin typeface="Verdana"/>
              </a:defRPr>
            </a:pPr>
            <a:r>
              <a:t>• Portfolio Management: Upload songs with lossless/compressed audio files (MP3, WAV, FLAC).</a:t>
            </a:r>
          </a:p>
          <a:p>
            <a:pPr>
              <a:defRPr sz="1300">
                <a:solidFill>
                  <a:srgbClr val="4F5A54"/>
                </a:solidFill>
                <a:latin typeface="Verdana"/>
              </a:defRPr>
            </a:pPr>
            <a:r>
              <a:t>• Status Tracking: Immediate visibility into song moderation states (Pending, Approved, Rejected).</a:t>
            </a:r>
          </a:p>
          <a:p>
            <a:pPr>
              <a:defRPr sz="1300">
                <a:solidFill>
                  <a:srgbClr val="4F5A54"/>
                </a:solidFill>
                <a:latin typeface="Verdana"/>
              </a:defRPr>
            </a:pPr>
            <a:r>
              <a:t>• Role Boundaries: Guarded by AuthFilter; strictly isolated from administrative endpoints.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12080" cy="4663440"/>
          </a:xfrm>
          <a:prstGeom prst="rect">
            <a:avLst/>
          </a:prstGeom>
          <a:solidFill>
            <a:srgbClr val="F1F3EE"/>
          </a:solidFill>
          <a:ln w="12700">
            <a:solidFill>
              <a:srgbClr val="7D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D5A00"/>
                </a:solidFill>
                <a:latin typeface="Arial"/>
              </a:defRPr>
            </a:pPr>
            <a:r>
              <a:t>ROLE: ADMINISTRATOR</a:t>
            </a:r>
          </a:p>
          <a:p>
            <a:pPr>
              <a:defRPr sz="1800" b="1">
                <a:solidFill>
                  <a:srgbClr val="1C2220"/>
                </a:solidFill>
                <a:latin typeface="Arial"/>
              </a:defRPr>
            </a:pPr>
            <a:r>
              <a:t>Platform Governance &amp; Quality Control</a:t>
            </a:r>
          </a:p>
          <a:p>
            <a:pPr>
              <a:defRPr sz="1300">
                <a:solidFill>
                  <a:srgbClr val="4F5A54"/>
                </a:solidFill>
                <a:latin typeface="Verdana"/>
              </a:defRPr>
            </a:pPr>
            <a:r>
              <a:t>• User Administration: Provision accounts, toggle roles (Admin/Musician), and delete inactive users.</a:t>
            </a:r>
          </a:p>
          <a:p>
            <a:pPr>
              <a:defRPr sz="1300">
                <a:solidFill>
                  <a:srgbClr val="4F5A54"/>
                </a:solidFill>
                <a:latin typeface="Verdana"/>
              </a:defRPr>
            </a:pPr>
            <a:r>
              <a:t>• Cascading Safety: User removal automatically and safely cascades to associated projects and songs.</a:t>
            </a:r>
          </a:p>
          <a:p>
            <a:pPr>
              <a:defRPr sz="1300">
                <a:solidFill>
                  <a:srgbClr val="4F5A54"/>
                </a:solidFill>
                <a:latin typeface="Verdana"/>
              </a:defRPr>
            </a:pPr>
            <a:r>
              <a:t>• Song Content Moderation: Review submitted songs in a dedicated queue; approve or reject audio submissions.</a:t>
            </a:r>
          </a:p>
          <a:p>
            <a:pPr>
              <a:defRPr sz="1300">
                <a:solidFill>
                  <a:srgbClr val="4F5A54"/>
                </a:solidFill>
                <a:latin typeface="Verdana"/>
              </a:defRPr>
            </a:pPr>
            <a:r>
              <a:t>• System Configuration: Toggle global public sign-ups on/off and enforce per-musician project limits.</a:t>
            </a:r>
          </a:p>
          <a:p>
            <a:pPr>
              <a:defRPr sz="1300">
                <a:solidFill>
                  <a:srgbClr val="4F5A54"/>
                </a:solidFill>
                <a:latin typeface="Verdana"/>
              </a:defRPr>
            </a:pPr>
            <a:r>
              <a:t>• Analytics Dashboard: High-level overview of pending review queues and active user counts.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D5A00"/>
                </a:solidFill>
                <a:latin typeface="Arial"/>
              </a:defRPr>
            </a:pPr>
            <a:r>
              <a:t>REVIEW 1 : STEMROOM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2220"/>
                </a:solidFill>
                <a:latin typeface="Arial"/>
              </a:defRPr>
            </a:pPr>
            <a:r>
              <a:t>3. Scope: Review 1 Implementation vs Review 2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BCC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4663440"/>
          </a:xfrm>
          <a:prstGeom prst="rect">
            <a:avLst/>
          </a:prstGeom>
          <a:solidFill>
            <a:srgbClr val="F1F3EE"/>
          </a:solidFill>
          <a:ln w="12700">
            <a:solidFill>
              <a:srgbClr val="2C6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C6A43"/>
                </a:solidFill>
                <a:latin typeface="Arial"/>
              </a:defRPr>
            </a:pPr>
            <a:r>
              <a:t>COMPLETED IN REVIEW 1 (WORKING NOW)</a:t>
            </a:r>
          </a:p>
          <a:p>
            <a:pPr>
              <a:defRPr sz="1800" b="1">
                <a:solidFill>
                  <a:srgbClr val="1C2220"/>
                </a:solidFill>
                <a:latin typeface="Arial"/>
              </a:defRPr>
            </a:pPr>
            <a:r>
              <a:t>Foundation &amp; Operational Modules</a:t>
            </a:r>
          </a:p>
          <a:p>
            <a:pPr>
              <a:defRPr sz="1200">
                <a:solidFill>
                  <a:srgbClr val="4F5A54"/>
                </a:solidFill>
                <a:latin typeface="Verdana"/>
              </a:defRPr>
            </a:pPr>
            <a:r>
              <a:t>✔ Full project directory structure and Maven WAR deployment lifecycle.</a:t>
            </a:r>
          </a:p>
          <a:p>
            <a:pPr>
              <a:defRPr sz="1200">
                <a:solidFill>
                  <a:srgbClr val="4F5A54"/>
                </a:solidFill>
                <a:latin typeface="Verdana"/>
              </a:defRPr>
            </a:pPr>
            <a:r>
              <a:t>✔ Relational database design (MySQL 8) with DDL, constraints &amp; seed data.</a:t>
            </a:r>
          </a:p>
          <a:p>
            <a:pPr>
              <a:defRPr sz="1200">
                <a:solidFill>
                  <a:srgbClr val="4F5A54"/>
                </a:solidFill>
                <a:latin typeface="Verdana"/>
              </a:defRPr>
            </a:pPr>
            <a:r>
              <a:t>✔ JDBC database layer with PreparedStatement and custom CrudDao generics.</a:t>
            </a:r>
          </a:p>
          <a:p>
            <a:pPr>
              <a:defRPr sz="1200">
                <a:solidFill>
                  <a:srgbClr val="4F5A54"/>
                </a:solidFill>
                <a:latin typeface="Verdana"/>
              </a:defRPr>
            </a:pPr>
            <a:r>
              <a:t>✔ Session authentication &amp; AuthFilter security boundary.</a:t>
            </a:r>
          </a:p>
          <a:p>
            <a:pPr>
              <a:defRPr sz="1200">
                <a:solidFill>
                  <a:srgbClr val="4F5A54"/>
                </a:solidFill>
                <a:latin typeface="Verdana"/>
              </a:defRPr>
            </a:pPr>
            <a:r>
              <a:t>✔ Musician project collaboration (create, list, add members, update status).</a:t>
            </a:r>
          </a:p>
          <a:p>
            <a:pPr>
              <a:defRPr sz="1200">
                <a:solidFill>
                  <a:srgbClr val="4F5A54"/>
                </a:solidFill>
                <a:latin typeface="Verdana"/>
              </a:defRPr>
            </a:pPr>
            <a:r>
              <a:t>✔ Song portfolio upload with multi-part disk storage.</a:t>
            </a:r>
          </a:p>
          <a:p>
            <a:pPr>
              <a:defRPr sz="1200">
                <a:solidFill>
                  <a:srgbClr val="4F5A54"/>
                </a:solidFill>
                <a:latin typeface="Verdana"/>
              </a:defRPr>
            </a:pPr>
            <a:r>
              <a:t>✔ Admin user management, content moderation, and dynamic settings.</a:t>
            </a:r>
          </a:p>
          <a:p>
            <a:pPr>
              <a:defRPr sz="1200">
                <a:solidFill>
                  <a:srgbClr val="4F5A54"/>
                </a:solidFill>
                <a:latin typeface="Verdana"/>
              </a:defRPr>
            </a:pPr>
            <a:r>
              <a:t>✔ Custom, responsive CSS design system with zero third-party frameworks.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12080" cy="4663440"/>
          </a:xfrm>
          <a:prstGeom prst="rect">
            <a:avLst/>
          </a:prstGeom>
          <a:solidFill>
            <a:srgbClr val="F1F3EE"/>
          </a:solidFill>
          <a:ln w="12700">
            <a:solidFill>
              <a:srgbClr val="BCC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D5A00"/>
                </a:solidFill>
                <a:latin typeface="Arial"/>
              </a:defRPr>
            </a:pPr>
            <a:r>
              <a:t>PLANNED FOR REVIEW 2</a:t>
            </a:r>
          </a:p>
          <a:p>
            <a:pPr>
              <a:defRPr sz="1800" b="1">
                <a:solidFill>
                  <a:srgbClr val="1C2220"/>
                </a:solidFill>
                <a:latin typeface="Arial"/>
              </a:defRPr>
            </a:pPr>
            <a:r>
              <a:t>Advanced Audio &amp; Real-time Collaboration</a:t>
            </a:r>
          </a:p>
          <a:p>
            <a:pPr>
              <a:defRPr sz="1300">
                <a:solidFill>
                  <a:srgbClr val="4F5A54"/>
                </a:solidFill>
                <a:latin typeface="Verdana"/>
              </a:defRPr>
            </a:pPr>
            <a:r>
              <a:t>⏳ In-browser HTML5 audio streaming &amp; waveform visualizer.</a:t>
            </a:r>
          </a:p>
          <a:p>
            <a:pPr>
              <a:defRPr sz="1300">
                <a:solidFill>
                  <a:srgbClr val="4F5A54"/>
                </a:solidFill>
                <a:latin typeface="Verdana"/>
              </a:defRPr>
            </a:pPr>
            <a:r>
              <a:t>⏳ Song editing workflow (metadata updates and audio file replacement).</a:t>
            </a:r>
          </a:p>
          <a:p>
            <a:pPr>
              <a:defRPr sz="1300">
                <a:solidFill>
                  <a:srgbClr val="4F5A54"/>
                </a:solidFill>
                <a:latin typeface="Verdana"/>
              </a:defRPr>
            </a:pPr>
            <a:r>
              <a:t>⏳ Project-level song sharing with track stems distribution.</a:t>
            </a:r>
          </a:p>
          <a:p>
            <a:pPr>
              <a:defRPr sz="1300">
                <a:solidFill>
                  <a:srgbClr val="4F5A54"/>
                </a:solidFill>
                <a:latin typeface="Verdana"/>
              </a:defRPr>
            </a:pPr>
            <a:r>
              <a:t>⏳ Time-stamped audio comments for precise musical feedback.</a:t>
            </a:r>
          </a:p>
          <a:p>
            <a:pPr>
              <a:defRPr sz="1300">
                <a:solidFill>
                  <a:srgbClr val="4F5A54"/>
                </a:solidFill>
                <a:latin typeface="Verdana"/>
              </a:defRPr>
            </a:pPr>
            <a:r>
              <a:t>⏳ Real-time notifications center and activity audit log.</a:t>
            </a:r>
          </a:p>
          <a:p>
            <a:pPr>
              <a:defRPr sz="1300">
                <a:solidFill>
                  <a:srgbClr val="4F5A54"/>
                </a:solidFill>
                <a:latin typeface="Verdana"/>
              </a:defRPr>
            </a:pPr>
            <a:r>
              <a:t>⏳ Enterprise auth enhancements (BCrypt/PBKDF2 hashing &amp; CSRF tokens).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D5A00"/>
                </a:solidFill>
                <a:latin typeface="Arial"/>
              </a:defRPr>
            </a:pPr>
            <a:r>
              <a:t>REVIEW 1 : STEMROOM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2220"/>
                </a:solidFill>
                <a:latin typeface="Arial"/>
              </a:defRPr>
            </a:pPr>
            <a:r>
              <a:t>4. System Architecture &amp; Request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BCC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965960" cy="2103120"/>
          </a:xfrm>
          <a:prstGeom prst="rect">
            <a:avLst/>
          </a:prstGeom>
          <a:solidFill>
            <a:srgbClr val="F1F3EE"/>
          </a:solidFill>
          <a:ln w="12700">
            <a:solidFill>
              <a:srgbClr val="BCC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783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C2220"/>
                </a:solidFill>
                <a:latin typeface="Arial"/>
              </a:defRPr>
            </a:pPr>
            <a:r>
              <a:t>1. Browser</a:t>
            </a:r>
          </a:p>
          <a:p>
            <a:pPr>
              <a:defRPr sz="1100">
                <a:solidFill>
                  <a:srgbClr val="4F5A54"/>
                </a:solidFill>
                <a:latin typeface="Verdana"/>
              </a:defRPr>
            </a:pPr>
            <a:r>
              <a:t>HTTP Request</a:t>
            </a:r>
            <a:br/>
            <a:r>
              <a:t>(GET / POST)</a:t>
            </a:r>
            <a:br/>
            <a:r>
              <a:t>Form Data / Audio</a:t>
            </a:r>
          </a:p>
        </p:txBody>
      </p:sp>
      <p:sp>
        <p:nvSpPr>
          <p:cNvPr id="8" name="Rectangle 7"/>
          <p:cNvSpPr/>
          <p:nvPr/>
        </p:nvSpPr>
        <p:spPr>
          <a:xfrm>
            <a:off x="2916936" y="1645920"/>
            <a:ext cx="1965960" cy="2103120"/>
          </a:xfrm>
          <a:prstGeom prst="rect">
            <a:avLst/>
          </a:prstGeom>
          <a:solidFill>
            <a:srgbClr val="F1F3EE"/>
          </a:solidFill>
          <a:ln w="12700">
            <a:solidFill>
              <a:srgbClr val="BCC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08376" y="1737360"/>
            <a:ext cx="1783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D5A00"/>
                </a:solidFill>
                <a:latin typeface="Arial"/>
              </a:defRPr>
            </a:pPr>
            <a:r>
              <a:t>2. AuthFilter</a:t>
            </a:r>
          </a:p>
          <a:p>
            <a:pPr>
              <a:defRPr sz="1100">
                <a:solidFill>
                  <a:srgbClr val="4F5A54"/>
                </a:solidFill>
                <a:latin typeface="Verdana"/>
              </a:defRPr>
            </a:pPr>
            <a:r>
              <a:t>Session verification</a:t>
            </a:r>
            <a:br/>
            <a:r>
              <a:t>Role check</a:t>
            </a:r>
            <a:br/>
            <a:r>
              <a:t>Route protection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02352" y="1645920"/>
            <a:ext cx="1965960" cy="2103120"/>
          </a:xfrm>
          <a:prstGeom prst="rect">
            <a:avLst/>
          </a:prstGeom>
          <a:solidFill>
            <a:srgbClr val="F1F3EE"/>
          </a:solidFill>
          <a:ln w="12700">
            <a:solidFill>
              <a:srgbClr val="BCC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93792" y="1737360"/>
            <a:ext cx="1783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A526"/>
                </a:solidFill>
                <a:latin typeface="Arial"/>
              </a:defRPr>
            </a:pPr>
            <a:r>
              <a:t>3. Servlet</a:t>
            </a:r>
          </a:p>
          <a:p>
            <a:pPr>
              <a:defRPr sz="1100">
                <a:solidFill>
                  <a:srgbClr val="4F5A54"/>
                </a:solidFill>
                <a:latin typeface="Verdana"/>
              </a:defRPr>
            </a:pPr>
            <a:r>
              <a:t>Input validation</a:t>
            </a:r>
            <a:br/>
            <a:r>
              <a:t>Orchestration</a:t>
            </a:r>
            <a:br/>
            <a:r>
              <a:t>View selection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87768" y="1645920"/>
            <a:ext cx="1965960" cy="2103120"/>
          </a:xfrm>
          <a:prstGeom prst="rect">
            <a:avLst/>
          </a:prstGeom>
          <a:solidFill>
            <a:srgbClr val="F1F3EE"/>
          </a:solidFill>
          <a:ln w="12700">
            <a:solidFill>
              <a:srgbClr val="BCC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79208" y="1737360"/>
            <a:ext cx="1783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6A43"/>
                </a:solidFill>
                <a:latin typeface="Arial"/>
              </a:defRPr>
            </a:pPr>
            <a:r>
              <a:t>4. DAO Layer</a:t>
            </a:r>
          </a:p>
          <a:p>
            <a:pPr>
              <a:defRPr sz="1100">
                <a:solidFill>
                  <a:srgbClr val="4F5A54"/>
                </a:solidFill>
                <a:latin typeface="Verdana"/>
              </a:defRPr>
            </a:pPr>
            <a:r>
              <a:t>PreparedStatement</a:t>
            </a:r>
            <a:br/>
            <a:r>
              <a:t>RowMapper mapping</a:t>
            </a:r>
            <a:br/>
            <a:r>
              <a:t>Connection pool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73184" y="1645920"/>
            <a:ext cx="1965960" cy="2103120"/>
          </a:xfrm>
          <a:prstGeom prst="rect">
            <a:avLst/>
          </a:prstGeom>
          <a:solidFill>
            <a:srgbClr val="F1F3EE"/>
          </a:solidFill>
          <a:ln w="12700">
            <a:solidFill>
              <a:srgbClr val="BCC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64624" y="1737360"/>
            <a:ext cx="1783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C2220"/>
                </a:solidFill>
                <a:latin typeface="Arial"/>
              </a:defRPr>
            </a:pPr>
            <a:r>
              <a:t>5. MySQL 8</a:t>
            </a:r>
          </a:p>
          <a:p>
            <a:pPr>
              <a:defRPr sz="1100">
                <a:solidFill>
                  <a:srgbClr val="4F5A54"/>
                </a:solidFill>
                <a:latin typeface="Verdana"/>
              </a:defRPr>
            </a:pPr>
            <a:r>
              <a:t>Relational persistence</a:t>
            </a:r>
            <a:br/>
            <a:r>
              <a:t>ACID integrity</a:t>
            </a:r>
            <a:br/>
            <a:r>
              <a:t>Foreign key cascades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23360"/>
            <a:ext cx="10728655" cy="2286000"/>
          </a:xfrm>
          <a:prstGeom prst="rect">
            <a:avLst/>
          </a:prstGeom>
          <a:solidFill>
            <a:srgbClr val="F1F3EE"/>
          </a:solidFill>
          <a:ln w="12700">
            <a:solidFill>
              <a:srgbClr val="BCC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10149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220"/>
                </a:solidFill>
                <a:latin typeface="Arial"/>
              </a:defRPr>
            </a:pPr>
            <a:r>
              <a:t>Return Pipeline: Servlet ➔ JSP View ➔ Escaped HTML Rendering</a:t>
            </a:r>
          </a:p>
          <a:p>
            <a:pPr>
              <a:defRPr sz="1200">
                <a:solidFill>
                  <a:srgbClr val="4F5A54"/>
                </a:solidFill>
                <a:latin typeface="Verdana"/>
              </a:defRPr>
            </a:pPr>
            <a:r>
              <a:t>• JSP Isolation: Views reside strictly under /WEB-INF/views/ to prevent direct URL access from browsers.</a:t>
            </a:r>
          </a:p>
          <a:p>
            <a:pPr>
              <a:defRPr sz="1200">
                <a:solidFill>
                  <a:srgbClr val="4F5A54"/>
                </a:solidFill>
                <a:latin typeface="Verdana"/>
              </a:defRPr>
            </a:pPr>
            <a:r>
              <a:t>• No Scriptlets: 100% pure JSTL (&lt;c:forEach&gt;, &lt;c:if&gt;, &lt;c:out&gt;) tags maintain separation of presentation from logic.</a:t>
            </a:r>
          </a:p>
          <a:p>
            <a:pPr>
              <a:defRPr sz="1200">
                <a:solidFill>
                  <a:srgbClr val="4F5A54"/>
                </a:solidFill>
                <a:latin typeface="Verdana"/>
              </a:defRPr>
            </a:pPr>
            <a:r>
              <a:t>• Automatic XSS Prevention: All dynamic database text is output via &lt;c:out value='...'/&gt; to guarantee HTML escaping.</a:t>
            </a:r>
          </a:p>
          <a:p>
            <a:pPr>
              <a:defRPr sz="1200">
                <a:solidFill>
                  <a:srgbClr val="4F5A54"/>
                </a:solidFill>
                <a:latin typeface="Verdana"/>
              </a:defRPr>
            </a:pPr>
            <a:r>
              <a:t>• Post/Redirect/Get Pattern: State-changing POST submissions redirect on success to prevent accidental duplicate submissions, while failures forward back with retained form inputs.</a:t>
            </a:r>
          </a:p>
          <a:p>
            <a:pPr>
              <a:defRPr sz="1200">
                <a:solidFill>
                  <a:srgbClr val="4F5A54"/>
                </a:solidFill>
                <a:latin typeface="Verdana"/>
              </a:defRPr>
            </a:pPr>
            <a:r>
              <a:t>• No Heavy Framework Overhead: Built with clean Jakarta Servlet 6.0 and JDBC specifications to satisfy exact evaluation rubrics.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D5A00"/>
                </a:solidFill>
                <a:latin typeface="Arial"/>
              </a:defRPr>
            </a:pPr>
            <a:r>
              <a:t>REVIEW 1 : STEMROOM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2220"/>
                </a:solidFill>
                <a:latin typeface="Arial"/>
              </a:defRPr>
            </a:pPr>
            <a:r>
              <a:t>5. Database Schema &amp; Relational Design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BCC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4663440"/>
          </a:xfrm>
          <a:prstGeom prst="rect">
            <a:avLst/>
          </a:prstGeom>
          <a:solidFill>
            <a:srgbClr val="F1F3EE"/>
          </a:solidFill>
          <a:ln w="12700">
            <a:solidFill>
              <a:srgbClr val="BCC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C6A43"/>
                </a:solidFill>
                <a:latin typeface="Arial"/>
              </a:defRPr>
            </a:pPr>
            <a:r>
              <a:t>RELATIONAL SCHEMA ENTITIES</a:t>
            </a:r>
          </a:p>
          <a:p>
            <a:pPr>
              <a:defRPr sz="1800" b="1">
                <a:solidFill>
                  <a:srgbClr val="1C2220"/>
                </a:solidFill>
                <a:latin typeface="Arial"/>
              </a:defRPr>
            </a:pPr>
            <a:r>
              <a:t>5 Core Normalized Tables in MySQL 8</a:t>
            </a:r>
          </a:p>
          <a:p>
            <a:pPr>
              <a:defRPr sz="1300" b="1">
                <a:solidFill>
                  <a:srgbClr val="1C2220"/>
                </a:solidFill>
                <a:latin typeface="Arial"/>
              </a:defRPr>
            </a:pPr>
            <a:r>
              <a:t>• users: </a:t>
            </a:r>
          </a:p>
          <a:p>
            <a:pPr>
              <a:defRPr sz="1100">
                <a:solidFill>
                  <a:srgbClr val="4F5A54"/>
                </a:solidFill>
                <a:latin typeface="Verdana"/>
              </a:defRPr>
            </a:pPr>
            <a:r>
              <a:t>  id (PK), name, email (UK), password_hash, role (ENUM)</a:t>
            </a:r>
          </a:p>
          <a:p>
            <a:pPr>
              <a:defRPr sz="1300" b="1">
                <a:solidFill>
                  <a:srgbClr val="1C2220"/>
                </a:solidFill>
                <a:latin typeface="Arial"/>
              </a:defRPr>
            </a:pPr>
            <a:r>
              <a:t>• projects: </a:t>
            </a:r>
          </a:p>
          <a:p>
            <a:pPr>
              <a:defRPr sz="1100">
                <a:solidFill>
                  <a:srgbClr val="4F5A54"/>
                </a:solidFill>
                <a:latin typeface="Verdana"/>
              </a:defRPr>
            </a:pPr>
            <a:r>
              <a:t>  id (PK), title, description, owner_id (FK), deadline, status (ENUM)</a:t>
            </a:r>
          </a:p>
          <a:p>
            <a:pPr>
              <a:defRPr sz="1300" b="1">
                <a:solidFill>
                  <a:srgbClr val="1C2220"/>
                </a:solidFill>
                <a:latin typeface="Arial"/>
              </a:defRPr>
            </a:pPr>
            <a:r>
              <a:t>• project_members: </a:t>
            </a:r>
          </a:p>
          <a:p>
            <a:pPr>
              <a:defRPr sz="1100">
                <a:solidFill>
                  <a:srgbClr val="4F5A54"/>
                </a:solidFill>
                <a:latin typeface="Verdana"/>
              </a:defRPr>
            </a:pPr>
            <a:r>
              <a:t>  project_id (PK, FK), user_id (PK, FK) [Join Table]</a:t>
            </a:r>
          </a:p>
          <a:p>
            <a:pPr>
              <a:defRPr sz="1300" b="1">
                <a:solidFill>
                  <a:srgbClr val="1C2220"/>
                </a:solidFill>
                <a:latin typeface="Arial"/>
              </a:defRPr>
            </a:pPr>
            <a:r>
              <a:t>• songs: </a:t>
            </a:r>
          </a:p>
          <a:p>
            <a:pPr>
              <a:defRPr sz="1100">
                <a:solidFill>
                  <a:srgbClr val="4F5A54"/>
                </a:solidFill>
                <a:latin typeface="Verdana"/>
              </a:defRPr>
            </a:pPr>
            <a:r>
              <a:t>  id (PK), owner_id (FK), title, album, file_name, status (ENUM)</a:t>
            </a:r>
          </a:p>
          <a:p>
            <a:pPr>
              <a:defRPr sz="1300" b="1">
                <a:solidFill>
                  <a:srgbClr val="1C2220"/>
                </a:solidFill>
                <a:latin typeface="Arial"/>
              </a:defRPr>
            </a:pPr>
            <a:r>
              <a:t>• settings: </a:t>
            </a:r>
          </a:p>
          <a:p>
            <a:pPr>
              <a:defRPr sz="1100">
                <a:solidFill>
                  <a:srgbClr val="4F5A54"/>
                </a:solidFill>
                <a:latin typeface="Verdana"/>
              </a:defRPr>
            </a:pPr>
            <a:r>
              <a:t>  setting_key (PK), setting_value (VARCHAR)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12080" cy="4663440"/>
          </a:xfrm>
          <a:prstGeom prst="rect">
            <a:avLst/>
          </a:prstGeom>
          <a:solidFill>
            <a:srgbClr val="F1F3EE"/>
          </a:solidFill>
          <a:ln w="12700">
            <a:solidFill>
              <a:srgbClr val="E0A5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D5A00"/>
                </a:solidFill>
                <a:latin typeface="Arial"/>
              </a:defRPr>
            </a:pPr>
            <a:r>
              <a:t>KEY ARCHITECTURAL DECISIONS</a:t>
            </a:r>
          </a:p>
          <a:p>
            <a:pPr>
              <a:defRPr sz="1800" b="1">
                <a:solidFill>
                  <a:srgbClr val="1C2220"/>
                </a:solidFill>
                <a:latin typeface="Arial"/>
              </a:defRPr>
            </a:pPr>
            <a:r>
              <a:t>Data Integrity &amp; Normalization</a:t>
            </a:r>
          </a:p>
          <a:p>
            <a:pPr>
              <a:defRPr sz="1300" b="1">
                <a:solidFill>
                  <a:srgbClr val="1C2220"/>
                </a:solidFill>
                <a:latin typeface="Arial"/>
              </a:defRPr>
            </a:pPr>
            <a:r>
              <a:t>1. Single Owner Isolation</a:t>
            </a:r>
          </a:p>
          <a:p>
            <a:pPr>
              <a:defRPr sz="1100">
                <a:solidFill>
                  <a:srgbClr val="4F5A54"/>
                </a:solidFill>
                <a:latin typeface="Verdana"/>
              </a:defRPr>
            </a:pPr>
            <a:r>
              <a:t>Project ownership lives directly on `projects.owner_id`. Collaborator join table only stores invited peers, avoiding duplicate owner entries.</a:t>
            </a:r>
          </a:p>
          <a:p>
            <a:pPr>
              <a:defRPr sz="1300" b="1">
                <a:solidFill>
                  <a:srgbClr val="1C2220"/>
                </a:solidFill>
                <a:latin typeface="Arial"/>
              </a:defRPr>
            </a:pPr>
            <a:r>
              <a:t>2. Explicit Moderation States</a:t>
            </a:r>
          </a:p>
          <a:p>
            <a:pPr>
              <a:defRPr sz="1100">
                <a:solidFill>
                  <a:srgbClr val="4F5A54"/>
                </a:solidFill>
                <a:latin typeface="Verdana"/>
              </a:defRPr>
            </a:pPr>
            <a:r>
              <a:t>Every uploaded track defaults to 'PENDING'. Only administrative approval unlocks full platform availability.</a:t>
            </a:r>
          </a:p>
          <a:p>
            <a:pPr>
              <a:defRPr sz="1300" b="1">
                <a:solidFill>
                  <a:srgbClr val="1C2220"/>
                </a:solidFill>
                <a:latin typeface="Arial"/>
              </a:defRPr>
            </a:pPr>
            <a:r>
              <a:t>3. Dynamic Settings Store</a:t>
            </a:r>
          </a:p>
          <a:p>
            <a:pPr>
              <a:defRPr sz="1100">
                <a:solidFill>
                  <a:srgbClr val="4F5A54"/>
                </a:solidFill>
                <a:latin typeface="Verdana"/>
              </a:defRPr>
            </a:pPr>
            <a:r>
              <a:t>Key-value schema in `settings` allows toggling registrations and limits without executing database schema migrations.</a:t>
            </a:r>
          </a:p>
          <a:p>
            <a:pPr>
              <a:defRPr sz="1300" b="1">
                <a:solidFill>
                  <a:srgbClr val="1C2220"/>
                </a:solidFill>
                <a:latin typeface="Arial"/>
              </a:defRPr>
            </a:pPr>
            <a:r>
              <a:t>4. Cascading Foreign Keys</a:t>
            </a:r>
          </a:p>
          <a:p>
            <a:pPr>
              <a:defRPr sz="1100">
                <a:solidFill>
                  <a:srgbClr val="4F5A54"/>
                </a:solidFill>
                <a:latin typeface="Verdana"/>
              </a:defRPr>
            </a:pPr>
            <a:r>
              <a:t>ON DELETE CASCADE guarantees that deleting an account completely purges associated projects and songs without orphaned rows.</a:t>
            </a:r>
          </a:p>
          <a:p>
            <a:pPr>
              <a:defRPr sz="1300" b="1">
                <a:solidFill>
                  <a:srgbClr val="1C2220"/>
                </a:solidFill>
                <a:latin typeface="Arial"/>
              </a:defRPr>
            </a:pPr>
            <a:r>
              <a:t>5. Normalized Unique Emails</a:t>
            </a:r>
          </a:p>
          <a:p>
            <a:pPr>
              <a:defRPr sz="1100">
                <a:solidFill>
                  <a:srgbClr val="4F5A54"/>
                </a:solidFill>
                <a:latin typeface="Verdana"/>
              </a:defRPr>
            </a:pPr>
            <a:r>
              <a:t>Emails stored in strict lowercase with UNIQUE constraint to prevent case-variation duplicate accounts.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D5A00"/>
                </a:solidFill>
                <a:latin typeface="Arial"/>
              </a:defRPr>
            </a:pPr>
            <a:r>
              <a:t>REVIEW 1 : STEMROOM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2220"/>
                </a:solidFill>
                <a:latin typeface="Arial"/>
              </a:defRPr>
            </a:pPr>
            <a:r>
              <a:t>6. Core Java &amp; Secure JDBC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BCC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4663440"/>
          </a:xfrm>
          <a:prstGeom prst="rect">
            <a:avLst/>
          </a:prstGeom>
          <a:solidFill>
            <a:srgbClr val="F1F3EE"/>
          </a:solidFill>
          <a:ln w="12700">
            <a:solidFill>
              <a:srgbClr val="BCC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C6A43"/>
                </a:solidFill>
                <a:latin typeface="Arial"/>
              </a:defRPr>
            </a:pPr>
            <a:r>
              <a:t>OOP &amp; LANGUAGE FEATURES</a:t>
            </a:r>
          </a:p>
          <a:p>
            <a:pPr>
              <a:defRPr sz="1800" b="1">
                <a:solidFill>
                  <a:srgbClr val="1C2220"/>
                </a:solidFill>
                <a:latin typeface="Arial"/>
              </a:defRPr>
            </a:pPr>
            <a:r>
              <a:t>Demonstrated Syllabus Concepts</a:t>
            </a:r>
          </a:p>
          <a:p>
            <a:pPr>
              <a:defRPr sz="1200">
                <a:solidFill>
                  <a:srgbClr val="4F5A54"/>
                </a:solidFill>
                <a:latin typeface="Verdana"/>
              </a:defRPr>
            </a:pPr>
            <a:r>
              <a:t>• Inheritance: Abstract User base class extended by Admin and Musician subclasses.</a:t>
            </a:r>
          </a:p>
          <a:p>
            <a:pPr>
              <a:defRPr sz="1200">
                <a:solidFill>
                  <a:srgbClr val="4F5A54"/>
                </a:solidFill>
                <a:latin typeface="Verdana"/>
              </a:defRPr>
            </a:pPr>
            <a:r>
              <a:t>• Polymorphism: Overridden canModerate() and getRole() called uniformly without type checks.</a:t>
            </a:r>
          </a:p>
          <a:p>
            <a:pPr>
              <a:defRPr sz="1200">
                <a:solidFill>
                  <a:srgbClr val="4F5A54"/>
                </a:solidFill>
                <a:latin typeface="Verdana"/>
              </a:defRPr>
            </a:pPr>
            <a:r>
              <a:t>• Interfaces &amp; Generics: CrudDao&lt;T&gt; implemented across UserDao, ProjectDao, and SongDao.</a:t>
            </a:r>
          </a:p>
          <a:p>
            <a:pPr>
              <a:defRPr sz="1200">
                <a:solidFill>
                  <a:srgbClr val="4F5A54"/>
                </a:solidFill>
                <a:latin typeface="Verdana"/>
              </a:defRPr>
            </a:pPr>
            <a:r>
              <a:t>• Collections &amp; Optionals: List&lt;T&gt; for multi-row queries; Optional&lt;T&gt; ensures null is never returned.</a:t>
            </a:r>
          </a:p>
          <a:p>
            <a:pPr>
              <a:defRPr sz="1200">
                <a:solidFill>
                  <a:srgbClr val="4F5A54"/>
                </a:solidFill>
                <a:latin typeface="Verdana"/>
              </a:defRPr>
            </a:pPr>
            <a:r>
              <a:t>• Enums with Metadata: Role, ProjectStatus, and ModerationStatus with parse() and labels.</a:t>
            </a:r>
          </a:p>
          <a:p>
            <a:pPr>
              <a:defRPr sz="1200">
                <a:solidFill>
                  <a:srgbClr val="4F5A54"/>
                </a:solidFill>
                <a:latin typeface="Verdana"/>
              </a:defRPr>
            </a:pPr>
            <a:r>
              <a:t>• Exception Wrapping: DataAccessException cleanly wraps checked SQLExceptions.</a:t>
            </a:r>
          </a:p>
          <a:p>
            <a:pPr>
              <a:defRPr sz="1200">
                <a:solidFill>
                  <a:srgbClr val="4F5A54"/>
                </a:solidFill>
                <a:latin typeface="Verdana"/>
              </a:defRPr>
            </a:pPr>
            <a:r>
              <a:t>• Try-with-resources: Guarantees connections, statements, and result sets close safely.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12080" cy="4663440"/>
          </a:xfrm>
          <a:prstGeom prst="rect">
            <a:avLst/>
          </a:prstGeom>
          <a:solidFill>
            <a:srgbClr val="F1F3EE"/>
          </a:solidFill>
          <a:ln w="12700">
            <a:solidFill>
              <a:srgbClr val="BCC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D5A00"/>
                </a:solidFill>
                <a:latin typeface="Arial"/>
              </a:defRPr>
            </a:pPr>
            <a:r>
              <a:t>SECURE JDBC CODE PATTERN</a:t>
            </a:r>
          </a:p>
          <a:p>
            <a:pPr>
              <a:defRPr sz="1800" b="1">
                <a:solidFill>
                  <a:srgbClr val="1C2220"/>
                </a:solidFill>
                <a:latin typeface="Arial"/>
              </a:defRPr>
            </a:pPr>
            <a:r>
              <a:t>Parameterized Queries &amp; RowMapper</a:t>
            </a:r>
          </a:p>
          <a:p>
            <a:pPr>
              <a:defRPr sz="1000">
                <a:solidFill>
                  <a:srgbClr val="1C2220"/>
                </a:solidFill>
                <a:latin typeface="Courier New"/>
              </a:defRPr>
            </a:pPr>
            <a:r>
              <a:t>// Example from SongDao.java</a:t>
            </a:r>
            <a:br/>
            <a:r>
              <a:t>public Optional&lt;Song&gt; findById(int id) {</a:t>
            </a:r>
            <a:br/>
            <a:r>
              <a:t>    String sql = """</a:t>
            </a:r>
            <a:br/>
            <a:r>
              <a:t>        SELECT s.*, u.name AS owner_name</a:t>
            </a:r>
            <a:br/>
            <a:r>
              <a:t>        FROM songs s</a:t>
            </a:r>
            <a:br/>
            <a:r>
              <a:t>        JOIN users u ON s.owner_id = u.id</a:t>
            </a:r>
            <a:br/>
            <a:r>
              <a:t>        WHERE s.id = ?</a:t>
            </a:r>
            <a:br/>
            <a:r>
              <a:t>        """;</a:t>
            </a:r>
            <a:br/>
            <a:r>
              <a:t>    return Db.queryOne(sql, this::mapRow, id);</a:t>
            </a:r>
            <a:br/>
            <a:r>
              <a:t>}</a:t>
            </a:r>
            <a:br/>
            <a:br/>
            <a:r>
              <a:t>private Song mapRow(ResultSet rs) throws SQLException {</a:t>
            </a:r>
            <a:br/>
            <a:r>
              <a:t>    return new Song(</a:t>
            </a:r>
            <a:br/>
            <a:r>
              <a:t>        rs.getInt("id"),</a:t>
            </a:r>
            <a:br/>
            <a:r>
              <a:t>        rs.getInt("owner_id"),</a:t>
            </a:r>
            <a:br/>
            <a:r>
              <a:t>        rs.getString("title"),</a:t>
            </a:r>
            <a:br/>
            <a:r>
              <a:t>        rs.getString("album"),</a:t>
            </a:r>
            <a:br/>
            <a:r>
              <a:t>        rs.getString("file_name"),</a:t>
            </a:r>
            <a:br/>
            <a:r>
              <a:t>        ModerationStatus.parse(rs.getString("status"))</a:t>
            </a:r>
            <a:br/>
            <a:r>
              <a:t>    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D5A00"/>
                </a:solidFill>
                <a:latin typeface="Arial"/>
              </a:defRPr>
            </a:pPr>
            <a:r>
              <a:t>REVIEW 1 : STEMROOM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2220"/>
                </a:solidFill>
                <a:latin typeface="Arial"/>
              </a:defRPr>
            </a:pPr>
            <a:r>
              <a:t>7. Live Application Interface &amp; Visual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BCC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2286000"/>
          </a:xfrm>
          <a:prstGeom prst="rect">
            <a:avLst/>
          </a:prstGeom>
          <a:solidFill>
            <a:srgbClr val="F1F3EE"/>
          </a:solidFill>
          <a:ln w="12700">
            <a:solidFill>
              <a:srgbClr val="BCC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D5A00"/>
                </a:solidFill>
                <a:latin typeface="Arial"/>
              </a:defRPr>
            </a:pPr>
            <a:r>
              <a:t>MUSICIAN DASHBOARD</a:t>
            </a:r>
          </a:p>
        </p:txBody>
      </p:sp>
      <p:pic>
        <p:nvPicPr>
          <p:cNvPr id="8" name="Picture 7" descr="02-musicia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4846320" cy="1828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17920" y="1645920"/>
            <a:ext cx="5212080" cy="2286000"/>
          </a:xfrm>
          <a:prstGeom prst="rect">
            <a:avLst/>
          </a:prstGeom>
          <a:solidFill>
            <a:srgbClr val="F1F3EE"/>
          </a:solidFill>
          <a:ln w="12700">
            <a:solidFill>
              <a:srgbClr val="BCC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9164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D5A00"/>
                </a:solidFill>
                <a:latin typeface="Arial"/>
              </a:defRPr>
            </a:pPr>
            <a:r>
              <a:t>PROJECT COLLABORATION</a:t>
            </a:r>
          </a:p>
        </p:txBody>
      </p:sp>
      <p:pic>
        <p:nvPicPr>
          <p:cNvPr id="11" name="Picture 10" descr="04-project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11680"/>
            <a:ext cx="4846320" cy="1828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1520" y="4114800"/>
            <a:ext cx="5212080" cy="2286000"/>
          </a:xfrm>
          <a:prstGeom prst="rect">
            <a:avLst/>
          </a:prstGeom>
          <a:solidFill>
            <a:srgbClr val="F1F3EE"/>
          </a:solidFill>
          <a:ln w="12700">
            <a:solidFill>
              <a:srgbClr val="BCC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D5A00"/>
                </a:solidFill>
                <a:latin typeface="Arial"/>
              </a:defRPr>
            </a:pPr>
            <a:r>
              <a:t>PORTFOLIO &amp; UPLOADS</a:t>
            </a:r>
          </a:p>
        </p:txBody>
      </p:sp>
      <p:pic>
        <p:nvPicPr>
          <p:cNvPr id="14" name="Picture 13" descr="05-portfol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80560"/>
            <a:ext cx="4846320" cy="18288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217920" y="4114800"/>
            <a:ext cx="5212080" cy="2286000"/>
          </a:xfrm>
          <a:prstGeom prst="rect">
            <a:avLst/>
          </a:prstGeom>
          <a:solidFill>
            <a:srgbClr val="F1F3EE"/>
          </a:solidFill>
          <a:ln w="12700">
            <a:solidFill>
              <a:srgbClr val="BCC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1605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D5A00"/>
                </a:solidFill>
                <a:latin typeface="Arial"/>
              </a:defRPr>
            </a:pPr>
            <a:r>
              <a:t>ADMIN MODERATION QUEUE</a:t>
            </a:r>
          </a:p>
        </p:txBody>
      </p:sp>
      <p:pic>
        <p:nvPicPr>
          <p:cNvPr id="17" name="Picture 16" descr="07-admin-moder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480560"/>
            <a:ext cx="484632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D5A00"/>
                </a:solidFill>
                <a:latin typeface="Arial"/>
              </a:defRPr>
            </a:pPr>
            <a:r>
              <a:t>REVIEW 1 : STEMROOM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2220"/>
                </a:solidFill>
                <a:latin typeface="Arial"/>
              </a:defRPr>
            </a:pPr>
            <a:r>
              <a:t>8. Design System: Aesthetic Choices &amp; Refused Cliches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BCC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4663440"/>
          </a:xfrm>
          <a:prstGeom prst="rect">
            <a:avLst/>
          </a:prstGeom>
          <a:solidFill>
            <a:srgbClr val="F1F3EE"/>
          </a:solidFill>
          <a:ln w="12700">
            <a:solidFill>
              <a:srgbClr val="2C6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C6A43"/>
                </a:solidFill>
                <a:latin typeface="Arial"/>
              </a:defRPr>
            </a:pPr>
            <a:r>
              <a:t>PHILOSOPHY &amp; PALETTE</a:t>
            </a:r>
          </a:p>
          <a:p>
            <a:pPr>
              <a:defRPr sz="1800" b="1">
                <a:solidFill>
                  <a:srgbClr val="1C2220"/>
                </a:solidFill>
                <a:latin typeface="Arial"/>
              </a:defRPr>
            </a:pPr>
            <a:r>
              <a:t>"A rehearsal room with the lights on"</a:t>
            </a:r>
          </a:p>
          <a:p>
            <a:pPr>
              <a:defRPr sz="1200">
                <a:solidFill>
                  <a:srgbClr val="4F5A54"/>
                </a:solidFill>
                <a:latin typeface="Verdana"/>
              </a:defRPr>
            </a:pPr>
            <a:r>
              <a:t>• Studio Canvas (#e5e8e2): Pale grey-green page background, soothing for late-night editing.</a:t>
            </a:r>
          </a:p>
          <a:p>
            <a:pPr>
              <a:defRPr sz="1200">
                <a:solidFill>
                  <a:srgbClr val="4F5A54"/>
                </a:solidFill>
                <a:latin typeface="Verdana"/>
              </a:defRPr>
            </a:pPr>
            <a:r>
              <a:t>• Deep Ink (#1c2220): High-contrast green-black text and structural borders.</a:t>
            </a:r>
          </a:p>
          <a:p>
            <a:pPr>
              <a:defRPr sz="1200">
                <a:solidFill>
                  <a:srgbClr val="4F5A54"/>
                </a:solidFill>
                <a:latin typeface="Verdana"/>
              </a:defRPr>
            </a:pPr>
            <a:r>
              <a:t>• Mustard Fill (#e0a526): Reserved exclusively for primary action buttons; never as decoration.</a:t>
            </a:r>
          </a:p>
          <a:p>
            <a:pPr>
              <a:defRPr sz="1200">
                <a:solidFill>
                  <a:srgbClr val="4F5A54"/>
                </a:solidFill>
                <a:latin typeface="Verdana"/>
              </a:defRPr>
            </a:pPr>
            <a:r>
              <a:t>• Action Crimson (#a8362a): Used solely for destructive deletes and error boundaries.</a:t>
            </a:r>
          </a:p>
          <a:p>
            <a:pPr>
              <a:defRPr sz="1200">
                <a:solidFill>
                  <a:srgbClr val="4F5A54"/>
                </a:solidFill>
                <a:latin typeface="Verdana"/>
              </a:defRPr>
            </a:pPr>
            <a:r>
              <a:t>• Approved Green (#2c6a43): Verification tags with paired square icons for full greyscale accessibility.</a:t>
            </a:r>
          </a:p>
          <a:p>
            <a:pPr>
              <a:defRPr sz="1200">
                <a:solidFill>
                  <a:srgbClr val="4F5A54"/>
                </a:solidFill>
                <a:latin typeface="Verdana"/>
              </a:defRPr>
            </a:pPr>
            <a:r>
              <a:t>• Typography Pairing: Franklin Gothic condensed headings paired with legible, wide Verdana body text.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12080" cy="4663440"/>
          </a:xfrm>
          <a:prstGeom prst="rect">
            <a:avLst/>
          </a:prstGeom>
          <a:solidFill>
            <a:srgbClr val="F1F3EE"/>
          </a:solidFill>
          <a:ln w="12700">
            <a:solidFill>
              <a:srgbClr val="A83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362A"/>
                </a:solidFill>
                <a:latin typeface="Arial"/>
              </a:defRPr>
            </a:pPr>
            <a:r>
              <a:t>INTENTIONAL RESTRAINTS</a:t>
            </a:r>
          </a:p>
          <a:p>
            <a:pPr>
              <a:defRPr sz="1800" b="1">
                <a:solidFill>
                  <a:srgbClr val="1C2220"/>
                </a:solidFill>
                <a:latin typeface="Arial"/>
              </a:defRPr>
            </a:pPr>
            <a:r>
              <a:t>What Was Deliberately Left Out</a:t>
            </a:r>
          </a:p>
          <a:p>
            <a:pPr>
              <a:defRPr sz="1200" b="1">
                <a:solidFill>
                  <a:srgbClr val="A8362A"/>
                </a:solidFill>
                <a:latin typeface="Arial"/>
              </a:defRPr>
            </a:pPr>
            <a:r>
              <a:t>✕ No Generic AI Warm Cream &amp; Terracotta: </a:t>
            </a:r>
          </a:p>
          <a:p>
            <a:pPr>
              <a:defRPr sz="1100">
                <a:solidFill>
                  <a:srgbClr val="4F5A54"/>
                </a:solidFill>
                <a:latin typeface="Verdana"/>
              </a:defRPr>
            </a:pPr>
            <a:r>
              <a:t>   Avoided cookie-cutter blog aesthetic.</a:t>
            </a:r>
          </a:p>
          <a:p>
            <a:pPr>
              <a:defRPr sz="1200" b="1">
                <a:solidFill>
                  <a:srgbClr val="A8362A"/>
                </a:solidFill>
                <a:latin typeface="Arial"/>
              </a:defRPr>
            </a:pPr>
            <a:r>
              <a:t>✕ No Neon / Acid-Green on Pitch Black: </a:t>
            </a:r>
          </a:p>
          <a:p>
            <a:pPr>
              <a:defRPr sz="1100">
                <a:solidFill>
                  <a:srgbClr val="4F5A54"/>
                </a:solidFill>
                <a:latin typeface="Verdana"/>
              </a:defRPr>
            </a:pPr>
            <a:r>
              <a:t>   Avoided clichéd 'cyberpunk' developer tropes.</a:t>
            </a:r>
          </a:p>
          <a:p>
            <a:pPr>
              <a:defRPr sz="1200" b="1">
                <a:solidFill>
                  <a:srgbClr val="A8362A"/>
                </a:solidFill>
                <a:latin typeface="Arial"/>
              </a:defRPr>
            </a:pPr>
            <a:r>
              <a:t>✕ No Rounded Drop-Shadow Cards: </a:t>
            </a:r>
          </a:p>
          <a:p>
            <a:pPr>
              <a:defRPr sz="1100">
                <a:solidFill>
                  <a:srgbClr val="4F5A54"/>
                </a:solidFill>
                <a:latin typeface="Verdana"/>
              </a:defRPr>
            </a:pPr>
            <a:r>
              <a:t>   Information layout follows editorial structure, not SaaS card grids.</a:t>
            </a:r>
          </a:p>
          <a:p>
            <a:pPr>
              <a:defRPr sz="1200" b="1">
                <a:solidFill>
                  <a:srgbClr val="A8362A"/>
                </a:solidFill>
                <a:latin typeface="Arial"/>
              </a:defRPr>
            </a:pPr>
            <a:r>
              <a:t>✕ No Monospace Labels for Plain Data: </a:t>
            </a:r>
          </a:p>
          <a:p>
            <a:pPr>
              <a:defRPr sz="1100">
                <a:solidFill>
                  <a:srgbClr val="4F5A54"/>
                </a:solidFill>
                <a:latin typeface="Verdana"/>
              </a:defRPr>
            </a:pPr>
            <a:r>
              <a:t>   Keeps technical metadata natural to read for musicians.</a:t>
            </a:r>
          </a:p>
          <a:p>
            <a:pPr>
              <a:defRPr sz="1200" b="1">
                <a:solidFill>
                  <a:srgbClr val="A8362A"/>
                </a:solidFill>
                <a:latin typeface="Arial"/>
              </a:defRPr>
            </a:pPr>
            <a:r>
              <a:t>✕ No Cluttered 'Welcome Back' Hero Banners: </a:t>
            </a:r>
          </a:p>
          <a:p>
            <a:pPr>
              <a:defRPr sz="1100">
                <a:solidFill>
                  <a:srgbClr val="4F5A54"/>
                </a:solidFill>
                <a:latin typeface="Verdana"/>
              </a:defRPr>
            </a:pPr>
            <a:r>
              <a:t>   Musicians immediately see actionable projects and tracks.</a:t>
            </a:r>
          </a:p>
          <a:p>
            <a:pPr>
              <a:defRPr sz="1200" b="1">
                <a:solidFill>
                  <a:srgbClr val="A8362A"/>
                </a:solidFill>
                <a:latin typeface="Arial"/>
              </a:defRPr>
            </a:pPr>
            <a:r>
              <a:t>✕ Zero CSS Framework Bloat: </a:t>
            </a:r>
          </a:p>
          <a:p>
            <a:pPr>
              <a:defRPr sz="1100">
                <a:solidFill>
                  <a:srgbClr val="4F5A54"/>
                </a:solidFill>
                <a:latin typeface="Verdana"/>
              </a:defRPr>
            </a:pPr>
            <a:r>
              <a:t>   Handcrafted, lightweight CSS (~400 lines) with rapid sub-10ms paint times.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D5A00"/>
                </a:solidFill>
                <a:latin typeface="Arial"/>
              </a:defRPr>
            </a:pPr>
            <a:r>
              <a:t>REVIEW 1 : STEMROOM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2220"/>
                </a:solidFill>
                <a:latin typeface="Arial"/>
              </a:defRPr>
            </a:pPr>
            <a:r>
              <a:t>9. Review 1 Conclusion &amp; Demonstration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BCC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4663440"/>
          </a:xfrm>
          <a:prstGeom prst="rect">
            <a:avLst/>
          </a:prstGeom>
          <a:solidFill>
            <a:srgbClr val="F1F3EE"/>
          </a:solidFill>
          <a:ln w="12700">
            <a:solidFill>
              <a:srgbClr val="2C6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C6A43"/>
                </a:solidFill>
                <a:latin typeface="Arial"/>
              </a:defRPr>
            </a:pPr>
            <a:r>
              <a:t>REVIEW 1 STATUS</a:t>
            </a:r>
          </a:p>
          <a:p>
            <a:pPr>
              <a:defRPr sz="1800" b="1">
                <a:solidFill>
                  <a:srgbClr val="1C2220"/>
                </a:solidFill>
                <a:latin typeface="Arial"/>
              </a:defRPr>
            </a:pPr>
            <a:r>
              <a:t>All Rubric Goals Satisfied</a:t>
            </a:r>
          </a:p>
          <a:p>
            <a:pPr>
              <a:defRPr sz="1200">
                <a:solidFill>
                  <a:srgbClr val="4F5A54"/>
                </a:solidFill>
                <a:latin typeface="Verdana"/>
              </a:defRPr>
            </a:pPr>
            <a:r>
              <a:t>✔ Problem Scope: Online Music Collaboration Platform (Problem Statement 22) fully addressed.</a:t>
            </a:r>
          </a:p>
          <a:p>
            <a:pPr>
              <a:defRPr sz="1200">
                <a:solidFill>
                  <a:srgbClr val="4F5A54"/>
                </a:solidFill>
                <a:latin typeface="Verdana"/>
              </a:defRPr>
            </a:pPr>
            <a:r>
              <a:t>✔ Database Architecture: MySQL 8 database normalized with cascading constraints &amp; seed scripts.</a:t>
            </a:r>
          </a:p>
          <a:p>
            <a:pPr>
              <a:defRPr sz="1200">
                <a:solidFill>
                  <a:srgbClr val="4F5A54"/>
                </a:solidFill>
                <a:latin typeface="Verdana"/>
              </a:defRPr>
            </a:pPr>
            <a:r>
              <a:t>✔ Core Java Mastery: Inheritance, Polymorphism, Generics, Collections, and Custom Exceptions.</a:t>
            </a:r>
          </a:p>
          <a:p>
            <a:pPr>
              <a:defRPr sz="1200">
                <a:solidFill>
                  <a:srgbClr val="4F5A54"/>
                </a:solidFill>
                <a:latin typeface="Verdana"/>
              </a:defRPr>
            </a:pPr>
            <a:r>
              <a:t>✔ Web Layer: Jakarta Servlet 6.0, JSTL 3.0, and secure session AuthFilter.</a:t>
            </a:r>
          </a:p>
          <a:p>
            <a:pPr>
              <a:defRPr sz="1200">
                <a:solidFill>
                  <a:srgbClr val="4F5A54"/>
                </a:solidFill>
                <a:latin typeface="Verdana"/>
              </a:defRPr>
            </a:pPr>
            <a:r>
              <a:t>✔ Packaging &amp; Deployment: Apache Tomcat 10.1 WAR deployment verified and running.</a:t>
            </a:r>
          </a:p>
          <a:p>
            <a:pPr>
              <a:defRPr sz="1200">
                <a:solidFill>
                  <a:srgbClr val="4F5A54"/>
                </a:solidFill>
                <a:latin typeface="Verdana"/>
              </a:defRPr>
            </a:pPr>
            <a:r>
              <a:t>✔ Open Source Delivery: Version controlled on GitHub (omsingh02/stemroom-byteforce).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12080" cy="4663440"/>
          </a:xfrm>
          <a:prstGeom prst="rect">
            <a:avLst/>
          </a:prstGeom>
          <a:solidFill>
            <a:srgbClr val="F1F3EE"/>
          </a:solidFill>
          <a:ln w="12700">
            <a:solidFill>
              <a:srgbClr val="E0A5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D5A00"/>
                </a:solidFill>
                <a:latin typeface="Arial"/>
              </a:defRPr>
            </a:pPr>
            <a:r>
              <a:t>PROJECT ROADMAP &amp; DEMO</a:t>
            </a:r>
          </a:p>
          <a:p>
            <a:pPr>
              <a:defRPr sz="1800" b="1">
                <a:solidFill>
                  <a:srgbClr val="1C2220"/>
                </a:solidFill>
                <a:latin typeface="Arial"/>
              </a:defRPr>
            </a:pPr>
            <a:r>
              <a:t>Ready for Evaluation</a:t>
            </a:r>
          </a:p>
          <a:p>
            <a:br/>
            <a:pPr>
              <a:defRPr sz="1300">
                <a:solidFill>
                  <a:srgbClr val="1C2220"/>
                </a:solidFill>
                <a:latin typeface="Verdana"/>
              </a:defRPr>
            </a:pPr>
            <a:r>
              <a:t>Live Demo Accounts Ready on http://localhost:8080/stemroom/:</a:t>
            </a:r>
            <a:br/>
            <a:r>
              <a:t>• Admin: admin@stemroom.local / admin123</a:t>
            </a:r>
            <a:br/>
            <a:r>
              <a:t>• Musician (Mira): mira@stemroom.local / musician123</a:t>
            </a:r>
            <a:br/>
            <a:r>
              <a:t>• Musician (Dev): dev@stemroom.local / musician123</a:t>
            </a:r>
            <a:br/>
          </a:p>
          <a:p>
            <a:pPr>
              <a:defRPr sz="1300" b="1">
                <a:solidFill>
                  <a:srgbClr val="2C6A43"/>
                </a:solidFill>
                <a:latin typeface="Verdana"/>
              </a:defRPr>
            </a:pPr>
            <a:r>
              <a:t>Repository:</a:t>
            </a:r>
            <a:br/>
            <a:r>
              <a:t>https://github.com/omsingh02/stemroom-byteforce</a:t>
            </a:r>
          </a:p>
          <a:p>
            <a:br/>
            <a:pPr>
              <a:defRPr sz="1600" b="1">
                <a:solidFill>
                  <a:srgbClr val="1C2220"/>
                </a:solidFill>
                <a:latin typeface="Arial"/>
              </a:defRPr>
            </a:pPr>
            <a:r>
              <a:t>Thank you!</a:t>
            </a:r>
            <a:br/>
            <a:r>
              <a:t>Questions &amp; Feedback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